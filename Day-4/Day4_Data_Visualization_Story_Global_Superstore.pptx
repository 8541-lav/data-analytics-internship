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Global Superstore Sales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6868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6F2"/>
                </a:solidFill>
              </a:defRPr>
            </a:pPr>
            <a:r>
              <a:t>Day 4 • Data Visualization &amp;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A4A"/>
                </a:solidFill>
              </a:defRPr>
            </a:pPr>
            <a:r>
              <a:t>Central question: What is driving sales performance, and where should the business focus?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23160" cy="1325880"/>
          </a:xfrm>
          <a:prstGeom prst="round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12.64M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600200"/>
            <a:ext cx="2423160" cy="1325880"/>
          </a:xfrm>
          <a:prstGeom prst="round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1.47M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Total Profit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00200"/>
            <a:ext cx="2423160" cy="1325880"/>
          </a:xfrm>
          <a:prstGeom prst="round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1,590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600200"/>
            <a:ext cx="2423160" cy="1325880"/>
          </a:xfrm>
          <a:prstGeom prst="round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51.29K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46120"/>
            <a:ext cx="73152" cy="914400"/>
          </a:xfrm>
          <a:prstGeom prst="rect">
            <a:avLst/>
          </a:prstGeom>
          <a:solidFill>
            <a:srgbClr val="26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246120"/>
            <a:ext cx="1025956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Context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The dashboard shows strong overall sales. The next step is to understand when sales peak, where they come from, and which customer groups contribute most.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389120"/>
            <a:ext cx="73152" cy="868680"/>
          </a:xfrm>
          <a:prstGeom prst="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389120"/>
            <a:ext cx="1025956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Story structure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Trend → Region → Customer Segment → Profitability → Recommendation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715000"/>
            <a:ext cx="109728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KEY TAKEAWAY  •  Overall sales are strong, creating a clear baseline for deeper performance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1. When are sales strongest?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Monthly sales trend from the Global Superstore dataset</a:t>
            </a:r>
          </a:p>
        </p:txBody>
      </p:sp>
      <p:pic>
        <p:nvPicPr>
          <p:cNvPr id="5" name="Picture 4" descr="day4_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35640" cy="4069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715000"/>
            <a:ext cx="109728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KEY TAKEAWAY  •  Sales rise and fall across the year, with November and December among the strongest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2. Where are sales coming from?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Regional performance highlights geographic differences</a:t>
            </a:r>
          </a:p>
        </p:txBody>
      </p:sp>
      <p:pic>
        <p:nvPicPr>
          <p:cNvPr id="5" name="Picture 4" descr="day4_regi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3564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715000"/>
            <a:ext cx="109728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KEY TAKEAWAY  •  Regional performance varies substantially, so high-performing regions offer the clearest opportunities for growth.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3. Which customer segment drives sales?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Sales contribution by customer segment</a:t>
            </a:r>
          </a:p>
        </p:txBody>
      </p:sp>
      <p:pic>
        <p:nvPicPr>
          <p:cNvPr id="5" name="Picture 4" descr="day4_segment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5257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Consumer: 6.5M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5257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Corporate: 3.8M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257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Home Office: 2.3M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715000"/>
            <a:ext cx="109728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KEY TAKEAWAY  •  Consumer is the largest sales segment, contributing about 6.5M in sales.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4. Are high sales translating into profit?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Revenue should be evaluated together with profitability</a:t>
            </a:r>
          </a:p>
        </p:txBody>
      </p:sp>
      <p:pic>
        <p:nvPicPr>
          <p:cNvPr id="5" name="Picture 4" descr="day4_regi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400800" cy="4160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508760"/>
            <a:ext cx="73152" cy="1005840"/>
          </a:xfrm>
          <a:prstGeom prst="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5512" y="1508760"/>
            <a:ext cx="367588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Why it matters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A region can generate substantial sales without delivering the same level of profit.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2788920"/>
            <a:ext cx="73152" cy="1005840"/>
          </a:xfrm>
          <a:prstGeom prst="rect">
            <a:avLst/>
          </a:prstGeom>
          <a:solidFill>
            <a:srgbClr val="26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2788920"/>
            <a:ext cx="367588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What to compare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Look for regions where sales are high but profit is comparatively weak.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4069080"/>
            <a:ext cx="73152" cy="100584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4069080"/>
            <a:ext cx="367588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Decision focus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Prioritize profitable growth rather than sales volume alone.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715000"/>
            <a:ext cx="10972800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2A4A"/>
                </a:solidFill>
              </a:defRPr>
            </a:pPr>
            <a:r>
              <a:t>KEY TAKEAWAY  •  Sales and profit should be analyzed together before deciding where to invest or improve.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5. Business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Turning the visual evidence into an action-oriented 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1399032"/>
            <a:ext cx="73152" cy="731520"/>
          </a:xfrm>
          <a:prstGeom prst="rect">
            <a:avLst/>
          </a:prstGeom>
          <a:solidFill>
            <a:srgbClr val="26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1399032"/>
            <a:ext cx="95280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Use peak months for planning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Prepare inventory, campaigns and resources around stronger sales periods.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496312"/>
            <a:ext cx="502920" cy="502920"/>
          </a:xfrm>
          <a:prstGeom prst="ellipse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478024"/>
            <a:ext cx="73152" cy="731520"/>
          </a:xfrm>
          <a:prstGeom prst="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912" y="2478024"/>
            <a:ext cx="95280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Prioritize high-performing regions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Protect strong regional performance and investigate expansion opportunities.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575304"/>
            <a:ext cx="502920" cy="502920"/>
          </a:xfrm>
          <a:prstGeom prst="ellipse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557016"/>
            <a:ext cx="73152" cy="731520"/>
          </a:xfrm>
          <a:prstGeom prst="rect">
            <a:avLst/>
          </a:prstGeom>
          <a:solidFill>
            <a:srgbClr val="26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3557016"/>
            <a:ext cx="95280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Keep Consumer as a key focus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The Consumer segment is the largest contributor to sales.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7320" y="4636008"/>
            <a:ext cx="73152" cy="731520"/>
          </a:xfrm>
          <a:prstGeom prst="rect">
            <a:avLst/>
          </a:prstGeom>
          <a:solidFill>
            <a:srgbClr val="E66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1912" y="4636008"/>
            <a:ext cx="952804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Manage for profitable growth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Track profit alongside sales to avoid chasing revenue that adds limited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15000"/>
            <a:ext cx="10652760" cy="530352"/>
          </a:xfrm>
          <a:prstGeom prst="roundRect">
            <a:avLst/>
          </a:prstGeom>
          <a:solidFill>
            <a:srgbClr val="EBF2F9"/>
          </a:solidFill>
          <a:ln>
            <a:solidFill>
              <a:srgbClr val="CD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2A4A"/>
                </a:solidFill>
              </a:defRPr>
            </a:pPr>
            <a:r>
              <a:t>FINAL MESSAGE  •  Strong sales are the starting point; the goal is to understand the drivers and turn them into profitable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A4A"/>
                </a:solidFill>
              </a:defRPr>
            </a:pPr>
            <a:r>
              <a:t>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6"/>
                </a:solidFill>
              </a:defRPr>
            </a:pPr>
            <a:r>
              <a:t>Use this slide only as a personal checklist; remove it if your portal requires exactly 4–6 story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73152" cy="68580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17320"/>
            <a:ext cx="1035100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✓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Keep the 5 story slides focused on one central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73152" cy="68580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240280"/>
            <a:ext cx="1035100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✓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Each visual has a one-sentence takeaway.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73152" cy="68580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63240"/>
            <a:ext cx="1035100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✓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Avoid unrelated charts such as Gender, Age Category, Weekend/Weekday and Order Delay.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86200"/>
            <a:ext cx="73152" cy="68580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886200"/>
            <a:ext cx="1035100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✓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Export the final PowerPoint as PDF if the internship portal asks for PDF.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709160"/>
            <a:ext cx="73152" cy="685800"/>
          </a:xfrm>
          <a:prstGeom prst="rect">
            <a:avLst/>
          </a:prstGeom>
          <a:solidFill>
            <a:srgbClr val="2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709160"/>
            <a:ext cx="10351008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A4A"/>
                </a:solidFill>
              </a:defRPr>
            </a:pPr>
            <a:r>
              <a:t>✓</a:t>
            </a:r>
          </a:p>
          <a:p>
            <a:pPr>
              <a:defRPr sz="1100">
                <a:solidFill>
                  <a:srgbClr val="262D37"/>
                </a:solidFill>
              </a:defRPr>
            </a:pPr>
            <a:r>
              <a:t>Upload the PPTX/PDF and your Power BI source file to GitHub if permitted.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519672"/>
            <a:ext cx="1106424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C76"/>
                </a:solidFill>
              </a:defRPr>
            </a:pPr>
            <a:r>
              <a:t>Day 4 • Data Visualization &amp; Storytelling • Global Superstore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